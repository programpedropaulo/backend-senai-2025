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Fredoka"/>
      <p:regular r:id="rId23"/>
      <p:bold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Palanquin Dark"/>
      <p:regular r:id="rId29"/>
      <p:bold r:id="rId30"/>
    </p:embeddedFont>
    <p:embeddedFont>
      <p:font typeface="Orbitron"/>
      <p:regular r:id="rId31"/>
      <p:bold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gyd3IVCC1+K+7d7B8d/ZvnoVHb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C38B54-5DFB-4A78-9F31-8B4B856403C7}">
  <a:tblStyle styleId="{42C38B54-5DFB-4A78-9F31-8B4B856403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redoka-bold.fntdata"/><Relationship Id="rId23" Type="http://schemas.openxmlformats.org/officeDocument/2006/relationships/font" Target="fonts/Fredok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lanquinDar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rbitron-regular.fntdata"/><Relationship Id="rId30" Type="http://schemas.openxmlformats.org/officeDocument/2006/relationships/font" Target="fonts/PalanquinDark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Orbitron-bold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8771af1b9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68771af1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67bc45a5d3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g367bc45a5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68771af1b9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368771af1b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8771af1b9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68771af1b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68771af1b9_0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68771af1b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927672ce1_7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g36927672ce1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68771af1b9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68771af1b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8771af1b9_0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68771af1b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68771af1b9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68771af1b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68771af1b9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68771af1b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68771af1b9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68771af1b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53" name="Google Shape;53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" name="Google Shape;54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55" name="Google Shape;55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" name="Google Shape;56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57" name="Google Shape;57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58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59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Google Shape;60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61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2" name="Google Shape;62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" name="Google Shape;64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65" name="Google Shape;65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74" name="Google Shape;74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81" name="Google Shape;81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" name="Google Shape;87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88" name="Google Shape;88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oogle Shape;90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91" name="Google Shape;91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" name="Google Shape;96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9" name="Google Shape;99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00" name="Google Shape;100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03" name="Google Shape;103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04" name="Google Shape;104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05" name="Google Shape;105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08" name="Google Shape;108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17" name="Google Shape;117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" name="Google Shape;122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24" name="Google Shape;124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31" name="Google Shape;131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34" name="Google Shape;134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Google Shape;139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40" name="Google Shape;140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44" name="Google Shape;144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148" name="Google Shape;148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9" name="Google Shape;149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150" name="Google Shape;150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156" name="Google Shape;156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159" name="Google Shape;159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2" name="Google Shape;162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163" name="Google Shape;163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" name="Google Shape;164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165" name="Google Shape;165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174" name="Google Shape;174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177" name="Google Shape;177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80" name="Google Shape;180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1" name="Google Shape;181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82" name="Google Shape;182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191" name="Google Shape;191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4" name="Google Shape;194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195" name="Google Shape;195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6" name="Google Shape;196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197" name="Google Shape;197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02" name="Google Shape;202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4" name="Google Shape;204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7" name="Google Shape;207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0" name="Google Shape;210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3" name="Google Shape;213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 column 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g361ad1c8480_0_384"/>
          <p:cNvGrpSpPr/>
          <p:nvPr/>
        </p:nvGrpSpPr>
        <p:grpSpPr>
          <a:xfrm>
            <a:off x="-1088076" y="-1000251"/>
            <a:ext cx="3803738" cy="4516378"/>
            <a:chOff x="-1060422" y="-1000251"/>
            <a:chExt cx="3803738" cy="4516378"/>
          </a:xfrm>
        </p:grpSpPr>
        <p:sp>
          <p:nvSpPr>
            <p:cNvPr id="216" name="Google Shape;216;g361ad1c8480_0_384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7" name="Google Shape;217;g361ad1c8480_0_384"/>
            <p:cNvGrpSpPr/>
            <p:nvPr/>
          </p:nvGrpSpPr>
          <p:grpSpPr>
            <a:xfrm>
              <a:off x="945462" y="736364"/>
              <a:ext cx="219510" cy="219124"/>
              <a:chOff x="1466575" y="2391250"/>
              <a:chExt cx="59575" cy="59475"/>
            </a:xfrm>
          </p:grpSpPr>
          <p:sp>
            <p:nvSpPr>
              <p:cNvPr id="218" name="Google Shape;218;g361ad1c8480_0_384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g361ad1c8480_0_384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0" name="Google Shape;220;g361ad1c8480_0_384"/>
            <p:cNvGrpSpPr/>
            <p:nvPr/>
          </p:nvGrpSpPr>
          <p:grpSpPr>
            <a:xfrm>
              <a:off x="-384165" y="-1000251"/>
              <a:ext cx="3127481" cy="4516378"/>
              <a:chOff x="278244" y="-184324"/>
              <a:chExt cx="2358228" cy="3405503"/>
            </a:xfrm>
          </p:grpSpPr>
          <p:grpSp>
            <p:nvGrpSpPr>
              <p:cNvPr id="221" name="Google Shape;221;g361ad1c8480_0_384"/>
              <p:cNvGrpSpPr/>
              <p:nvPr/>
            </p:nvGrpSpPr>
            <p:grpSpPr>
              <a:xfrm>
                <a:off x="278244" y="-184324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22" name="Google Shape;222;g361ad1c8480_0_384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3" name="Google Shape;223;g361ad1c8480_0_384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4" name="Google Shape;224;g361ad1c8480_0_384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g361ad1c8480_0_384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" name="Google Shape;226;g361ad1c8480_0_384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27" name="Google Shape;227;g361ad1c8480_0_384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8" name="Google Shape;228;g361ad1c8480_0_384"/>
          <p:cNvGrpSpPr/>
          <p:nvPr/>
        </p:nvGrpSpPr>
        <p:grpSpPr>
          <a:xfrm>
            <a:off x="265778" y="4373866"/>
            <a:ext cx="4306225" cy="2966903"/>
            <a:chOff x="293431" y="4373866"/>
            <a:chExt cx="4306225" cy="2966903"/>
          </a:xfrm>
        </p:grpSpPr>
        <p:grpSp>
          <p:nvGrpSpPr>
            <p:cNvPr id="229" name="Google Shape;229;g361ad1c8480_0_384"/>
            <p:cNvGrpSpPr/>
            <p:nvPr/>
          </p:nvGrpSpPr>
          <p:grpSpPr>
            <a:xfrm>
              <a:off x="3565699" y="4429964"/>
              <a:ext cx="801674" cy="397824"/>
              <a:chOff x="1622300" y="2291700"/>
              <a:chExt cx="118800" cy="58950"/>
            </a:xfrm>
          </p:grpSpPr>
          <p:sp>
            <p:nvSpPr>
              <p:cNvPr id="230" name="Google Shape;230;g361ad1c8480_0_384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g361ad1c8480_0_384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g361ad1c8480_0_384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g361ad1c8480_0_384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g361ad1c8480_0_384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g361ad1c8480_0_384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g361ad1c8480_0_384"/>
            <p:cNvGrpSpPr/>
            <p:nvPr/>
          </p:nvGrpSpPr>
          <p:grpSpPr>
            <a:xfrm flipH="1" rot="5400000">
              <a:off x="963092" y="3704205"/>
              <a:ext cx="2966903" cy="4306225"/>
              <a:chOff x="6769513" y="299393"/>
              <a:chExt cx="1308620" cy="1899526"/>
            </a:xfrm>
          </p:grpSpPr>
          <p:sp>
            <p:nvSpPr>
              <p:cNvPr id="239" name="Google Shape;239;g361ad1c8480_0_384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361ad1c8480_0_384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g361ad1c8480_0_384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g361ad1c8480_0_384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61ad1c8480_0_384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g361ad1c8480_0_384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5" name="Google Shape;245;g361ad1c8480_0_384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6" name="Google Shape;246;g361ad1c8480_0_384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249" name="Google Shape;249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0" name="Google Shape;250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251" name="Google Shape;251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254" name="Google Shape;254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55" name="Google Shape;255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0" name="Google Shape;260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1" name="Google Shape;261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" name="Google Shape;262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263" name="Google Shape;263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8" name="Google Shape;268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269" name="Google Shape;269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270" name="Google Shape;270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280" name="Google Shape;280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6" name="Google Shape;286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7" name="Google Shape;287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288" name="Google Shape;288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295" name="Google Shape;295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1" name="Google Shape;301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2" name="Google Shape;302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03" name="Google Shape;303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6" name="Google Shape;306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07" name="Google Shape;307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08" name="Google Shape;308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9" name="Google Shape;309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10" name="Google Shape;310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1" name="Google Shape;311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2" name="Google Shape;312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13" name="Google Shape;313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4" name="Google Shape;314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15" name="Google Shape;315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6" name="Google Shape;316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17" name="Google Shape;317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318" name="Google Shape;318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319" name="Google Shape;319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" name="Google Shape;320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6" name="Google Shape;326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327" name="Google Shape;327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" name="Google Shape;329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330" name="Google Shape;330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3" name="Google Shape;333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334" name="Google Shape;334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5" name="Google Shape;335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336" name="Google Shape;336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4" name="Google Shape;344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345" name="Google Shape;345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49" name="Google Shape;349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51" name="Google Shape;351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3" name="Google Shape;353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54" name="Google Shape;354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55" name="Google Shape;355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56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57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1" name="Google Shape;361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62" name="Google Shape;362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63" name="Google Shape;363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72" name="Google Shape;372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9" name="Google Shape;379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82" name="Google Shape;382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" name="Google Shape;383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84" name="Google Shape;384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93" name="Google Shape;393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5" name="Google Shape;395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96" name="Google Shape;396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97" name="Google Shape;397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401" name="Google Shape;401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402" name="Google Shape;402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408" name="Google Shape;408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10" name="Google Shape;410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1" name="Google Shape;411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2" name="Google Shape;412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13" name="Google Shape;413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4" name="Google Shape;414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415" name="Google Shape;415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6" name="Google Shape;416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420" name="Google Shape;420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422" name="Google Shape;422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423" name="Google Shape;423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8" name="Google Shape;428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29" name="Google Shape;429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430" name="Google Shape;430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" name="Google Shape;431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432" name="Google Shape;432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" name="Google Shape;438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42" name="Google Shape;442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44" name="Google Shape;444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47" name="Google Shape;447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51" name="Google Shape;451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61" name="Google Shape;461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2" name="Google Shape;472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73" name="Google Shape;473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6" name="Google Shape;476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77" name="Google Shape;477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80" name="Google Shape;480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84" name="Google Shape;48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90" name="Google Shape;490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97" name="Google Shape;497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3" name="Google Shape;503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504" name="Google Shape;504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6" name="Google Shape;506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507" name="Google Shape;507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2" name="Google Shape;512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/>
              <a:t>Modelagem, ORM e Persistência</a:t>
            </a:r>
            <a:endParaRPr sz="4000"/>
          </a:p>
        </p:txBody>
      </p:sp>
      <p:grpSp>
        <p:nvGrpSpPr>
          <p:cNvPr id="521" name="Google Shape;521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522" name="Google Shape;522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"/>
          <p:cNvSpPr txBox="1"/>
          <p:nvPr>
            <p:ph type="title"/>
          </p:nvPr>
        </p:nvSpPr>
        <p:spPr>
          <a:xfrm>
            <a:off x="1045050" y="219582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 sz="3600"/>
              <a:t>Definição e Criação de Models</a:t>
            </a:r>
            <a:endParaRPr sz="4200"/>
          </a:p>
        </p:txBody>
      </p:sp>
      <p:sp>
        <p:nvSpPr>
          <p:cNvPr id="529" name="Google Shape;529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"/>
          <p:cNvSpPr txBox="1"/>
          <p:nvPr>
            <p:ph idx="1" type="subTitle"/>
          </p:nvPr>
        </p:nvSpPr>
        <p:spPr>
          <a:xfrm>
            <a:off x="713375" y="1629325"/>
            <a:ext cx="5152800" cy="26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Em Django, models são classes Python que representam tabelas do banco de dados.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Cada atributo da classe é uma coluna da tabela, e cada objeto (instância) da classe representa uma linha da tabela.</a:t>
            </a:r>
            <a:endParaRPr sz="2200"/>
          </a:p>
        </p:txBody>
      </p:sp>
      <p:sp>
        <p:nvSpPr>
          <p:cNvPr id="535" name="Google Shape;535;p4"/>
          <p:cNvSpPr txBox="1"/>
          <p:nvPr>
            <p:ph type="title"/>
          </p:nvPr>
        </p:nvSpPr>
        <p:spPr>
          <a:xfrm>
            <a:off x="713370" y="1157127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Definição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617bb5a9ba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Criação de um Model</a:t>
            </a:r>
            <a:endParaRPr/>
          </a:p>
        </p:txBody>
      </p:sp>
      <p:sp>
        <p:nvSpPr>
          <p:cNvPr id="541" name="Google Shape;541;g3617bb5a9ba_0_3"/>
          <p:cNvSpPr txBox="1"/>
          <p:nvPr/>
        </p:nvSpPr>
        <p:spPr>
          <a:xfrm>
            <a:off x="720000" y="870900"/>
            <a:ext cx="4220100" cy="3401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from django.db import models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class Produto(models.Model):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nome = models.CharField(max_length=100)  # texto curto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preco = models.DecimalField(max_digits=8, decimal_places=2)  # decimal com até 999999.99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estoque = models.IntegerField()  # número inteiro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def __str__(self):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accent4"/>
                </a:solidFill>
              </a:rPr>
              <a:t>        return self.nome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617bb5a9ba_0_3"/>
          <p:cNvSpPr txBox="1"/>
          <p:nvPr/>
        </p:nvSpPr>
        <p:spPr>
          <a:xfrm>
            <a:off x="4940100" y="870900"/>
            <a:ext cx="36039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que está acontecendo: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Produto será o nome da tabela no banco.</a:t>
            </a:r>
            <a:b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nome, preco, estoque serão as colunas.</a:t>
            </a:r>
            <a:b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classe herda de models.Model para ser reconhecida pelo Django.</a:t>
            </a:r>
            <a:b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método __str__ serve para exibir o nome do produto no admin, no terminal etc.</a:t>
            </a:r>
            <a:br>
              <a:rPr lang="pt-BR" sz="1100"/>
            </a:b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8771af1b9_0_14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Principais campos</a:t>
            </a:r>
            <a:endParaRPr/>
          </a:p>
        </p:txBody>
      </p:sp>
      <p:graphicFrame>
        <p:nvGraphicFramePr>
          <p:cNvPr id="548" name="Google Shape;548;g368771af1b9_0_14"/>
          <p:cNvGraphicFramePr/>
          <p:nvPr/>
        </p:nvGraphicFramePr>
        <p:xfrm>
          <a:off x="1415950" y="74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{42C38B54-5DFB-4A78-9F31-8B4B856403C7}</a:tableStyleId>
              </a:tblPr>
              <a:tblGrid>
                <a:gridCol w="2142625"/>
                <a:gridCol w="4169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accent4"/>
                          </a:solidFill>
                        </a:rPr>
                        <a:t>Campo</a:t>
                      </a:r>
                      <a:endParaRPr b="1"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>
                          <a:solidFill>
                            <a:schemeClr val="accent4"/>
                          </a:solidFill>
                        </a:rPr>
                        <a:t>Significado</a:t>
                      </a:r>
                      <a:endParaRPr b="1"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CharField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Texto curto (precisa de max_length)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DecimalField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Números com casas decimais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IntegerField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Números inteiros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DateField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Datas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DateTimeField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Data e hora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BooleanField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Verdadeiro/Falso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TextField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Texto longo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EmailField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accent4"/>
                          </a:solidFill>
                        </a:rPr>
                        <a:t>Validação de e-mail</a:t>
                      </a:r>
                      <a:endParaRPr sz="1600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2E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7bc45a5d3_0_37"/>
          <p:cNvSpPr txBox="1"/>
          <p:nvPr>
            <p:ph type="title"/>
          </p:nvPr>
        </p:nvSpPr>
        <p:spPr>
          <a:xfrm>
            <a:off x="1045050" y="2677575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pt-BR" sz="4200"/>
              <a:t>Comandos Básicos do Django ORM (Object-Relational Mapping)</a:t>
            </a:r>
            <a:endParaRPr sz="4200"/>
          </a:p>
        </p:txBody>
      </p:sp>
      <p:sp>
        <p:nvSpPr>
          <p:cNvPr id="554" name="Google Shape;554;g367bc45a5d3_0_37"/>
          <p:cNvSpPr txBox="1"/>
          <p:nvPr>
            <p:ph idx="2" type="title"/>
          </p:nvPr>
        </p:nvSpPr>
        <p:spPr>
          <a:xfrm>
            <a:off x="3795000" y="1191375"/>
            <a:ext cx="1554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68771af1b9_0_29"/>
          <p:cNvSpPr txBox="1"/>
          <p:nvPr/>
        </p:nvSpPr>
        <p:spPr>
          <a:xfrm>
            <a:off x="2355650" y="755400"/>
            <a:ext cx="45744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Criar migração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Cria um rascunho da mudança no banco: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2"/>
                </a:solidFill>
              </a:rPr>
              <a:t>python manage.py makemigrations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68771af1b9_0_29"/>
          <p:cNvSpPr txBox="1"/>
          <p:nvPr/>
        </p:nvSpPr>
        <p:spPr>
          <a:xfrm>
            <a:off x="2048450" y="2848800"/>
            <a:ext cx="51888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Aplicar migração (executar no banco)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/>
              <a:t>De fato cria a tabela no banco: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2"/>
                </a:solidFill>
              </a:rPr>
              <a:t>python manage.py migrate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561" name="Google Shape;561;g368771af1b9_0_29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Comandos Básicos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68771af1b9_0_58"/>
          <p:cNvSpPr txBox="1"/>
          <p:nvPr/>
        </p:nvSpPr>
        <p:spPr>
          <a:xfrm>
            <a:off x="2355650" y="755400"/>
            <a:ext cx="45744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Ver o SQL que será gerado: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C2E12"/>
                </a:solidFill>
              </a:rPr>
              <a:t>python manage.py sqlmigrate nome_app 0001</a:t>
            </a:r>
            <a:endParaRPr sz="2200">
              <a:solidFill>
                <a:srgbClr val="FC2E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68771af1b9_0_58"/>
          <p:cNvSpPr txBox="1"/>
          <p:nvPr/>
        </p:nvSpPr>
        <p:spPr>
          <a:xfrm>
            <a:off x="2048450" y="2848800"/>
            <a:ext cx="5188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/>
              <a:t>Reverter (desfazer) as migrações:</a:t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2"/>
                </a:solidFill>
              </a:rPr>
              <a:t>python manage.py migrate nome_app zero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sp>
        <p:nvSpPr>
          <p:cNvPr id="568" name="Google Shape;568;g368771af1b9_0_58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Comandos Básicos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68771af1b9_0_65"/>
          <p:cNvSpPr txBox="1"/>
          <p:nvPr>
            <p:ph type="title"/>
          </p:nvPr>
        </p:nvSpPr>
        <p:spPr>
          <a:xfrm>
            <a:off x="1045050" y="2224150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/>
              <a:t>Django ORM - CRUD Básico</a:t>
            </a:r>
            <a:endParaRPr sz="4200"/>
          </a:p>
        </p:txBody>
      </p:sp>
      <p:sp>
        <p:nvSpPr>
          <p:cNvPr id="574" name="Google Shape;574;g368771af1b9_0_65"/>
          <p:cNvSpPr txBox="1"/>
          <p:nvPr>
            <p:ph idx="2" type="title"/>
          </p:nvPr>
        </p:nvSpPr>
        <p:spPr>
          <a:xfrm>
            <a:off x="3795000" y="1191375"/>
            <a:ext cx="1554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6927672ce1_7_0"/>
          <p:cNvSpPr txBox="1"/>
          <p:nvPr/>
        </p:nvSpPr>
        <p:spPr>
          <a:xfrm>
            <a:off x="647100" y="1015350"/>
            <a:ext cx="78498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/>
              <a:t>Para rodar os comandos CRUD entre no terminal SHELL: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C2E1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FC2E12"/>
                </a:solidFill>
              </a:rPr>
              <a:t>python manage.py shell</a:t>
            </a:r>
            <a:endParaRPr sz="1900">
              <a:solidFill>
                <a:srgbClr val="FC2E1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/>
              <a:t>Selecione a tabela que você quer acessar: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</a:rPr>
              <a:t>from seu_app.models import Produto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580" name="Google Shape;580;g36927672ce1_7_0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CRUD Básico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"/>
          <p:cNvSpPr txBox="1"/>
          <p:nvPr/>
        </p:nvSpPr>
        <p:spPr>
          <a:xfrm>
            <a:off x="647100" y="1015350"/>
            <a:ext cx="78498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/>
              <a:t>CREATE (Criar)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Produto.objects.create(nome="Teclado", preco=199.90, estoque=10)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900"/>
              <a:t>READ (Ler)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Produto.objects.all()  # todos os produtos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Produto.objects.filter(preco__lte=100)  # produtos com preço menor ou igual a 100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Produto.objects.get(id=1)  # produto específico com id 1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6" name="Google Shape;586;p6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CRUD Básico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68771af1b9_0_87"/>
          <p:cNvSpPr txBox="1"/>
          <p:nvPr/>
        </p:nvSpPr>
        <p:spPr>
          <a:xfrm>
            <a:off x="1617600" y="1363650"/>
            <a:ext cx="5908800" cy="24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700"/>
              <a:t>UPDATE (Atualizar)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 = Produto.objects.get(id=1)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p.estoque = 20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p.save()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700"/>
              <a:t>DELETE (Deletar)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</a:rPr>
              <a:t>Produto.objects.get(id=1).delete()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592" name="Google Shape;592;g368771af1b9_0_87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CRUD Básico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68771af1b9_0_97"/>
          <p:cNvSpPr txBox="1"/>
          <p:nvPr>
            <p:ph type="title"/>
          </p:nvPr>
        </p:nvSpPr>
        <p:spPr>
          <a:xfrm>
            <a:off x="1045050" y="2224150"/>
            <a:ext cx="70539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/>
              <a:t>Relacionamentos entre Tabelas</a:t>
            </a:r>
            <a:endParaRPr sz="4200"/>
          </a:p>
        </p:txBody>
      </p:sp>
      <p:sp>
        <p:nvSpPr>
          <p:cNvPr id="598" name="Google Shape;598;g368771af1b9_0_97"/>
          <p:cNvSpPr txBox="1"/>
          <p:nvPr>
            <p:ph idx="2" type="title"/>
          </p:nvPr>
        </p:nvSpPr>
        <p:spPr>
          <a:xfrm>
            <a:off x="3795000" y="1191375"/>
            <a:ext cx="1554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68771af1b9_0_71"/>
          <p:cNvSpPr txBox="1"/>
          <p:nvPr/>
        </p:nvSpPr>
        <p:spPr>
          <a:xfrm>
            <a:off x="859650" y="1436550"/>
            <a:ext cx="74247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BR" sz="1800"/>
              <a:t> 1. OneToOne (1:1)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/>
              <a:t>Cada item de uma tabela está </a:t>
            </a:r>
            <a:r>
              <a:rPr b="1" lang="pt-BR" sz="1600"/>
              <a:t>ligado a exatamente um item</a:t>
            </a:r>
            <a:r>
              <a:rPr lang="pt-BR" sz="1600"/>
              <a:t> de outra.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class Perfil(models.Model):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    usuario = models.OneToOneField(User, on_delete=models.CASCADE)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/>
              <a:t>Ex: Um usuário tem um único perfil (e vice-versa).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68771af1b9_0_127"/>
          <p:cNvSpPr txBox="1"/>
          <p:nvPr/>
        </p:nvSpPr>
        <p:spPr>
          <a:xfrm>
            <a:off x="859650" y="368400"/>
            <a:ext cx="7424700" cy="4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/>
              <a:t> 2. ForeignKey (1:N ou N:1)</a:t>
            </a:r>
            <a:endParaRPr b="1"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Muitos produtos pertencem a uma única categoria.</a:t>
            </a:r>
            <a:endParaRPr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class Categoria(models.Model):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   nome = models.CharField(max_length=50)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class Produto(models.Model):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   categoria = models.ForeignKey(Categoria, on_delete=models.CASCADE)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Ex: Uma categoria pode ter muitos produtos, mas cada produto pertence a uma única categoria.</a:t>
            </a:r>
            <a:endParaRPr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68771af1b9_0_117"/>
          <p:cNvSpPr txBox="1"/>
          <p:nvPr/>
        </p:nvSpPr>
        <p:spPr>
          <a:xfrm>
            <a:off x="859650" y="368400"/>
            <a:ext cx="74247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800"/>
              <a:t>3. ManyToMany (N:N)</a:t>
            </a:r>
            <a:endParaRPr b="1"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Um produto pode ter várias tags e uma tag pode estar em vários produtos.</a:t>
            </a:r>
            <a:endParaRPr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class Produto(models.Model):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   tags = models.ManyToManyField("Tag")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class Tag(models.Model):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   nome = models.CharField(max_length=20)</a:t>
            </a:r>
            <a:endParaRPr sz="1800">
              <a:solidFill>
                <a:schemeClr val="dk2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Ex: Produto “Caneta” pode ter tags “escolar” e “papelaria”, e a tag “papelaria” pode estar em vários produtos.</a:t>
            </a:r>
            <a:endParaRPr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