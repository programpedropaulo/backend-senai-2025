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redoka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Palanquin Dark"/>
      <p:regular r:id="rId26"/>
      <p:bold r:id="rId27"/>
    </p:embeddedFont>
    <p:embeddedFont>
      <p:font typeface="Orbitron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OtXMhWv9gZ7YA3OoVwk4HIQ6A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o Victo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edoka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Fredoka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lanquinDark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Orbitron-regular.fntdata"/><Relationship Id="rId27" Type="http://schemas.openxmlformats.org/officeDocument/2006/relationships/font" Target="fonts/PalanquinDar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rbitro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6T18:02:48.522">
    <p:pos x="6000" y="0"/>
    <p:text>class ContaBancaria:
def __init__(self, titular, saldo):
self.__titular = titular # Atributo privado
self.__saldo = saldo # Atributo privado
# Getter para acessar o saldo
def get_saldo(self):
return self.__saldo
# Setter para alterar o saldo (com validação)
def depositar(self, valor):
if valor &gt; 0:
self.__saldo += valor
else:
print("O valor precisa ser positivo.")
def sacar(self, valor):
if 0 &lt; valor &lt;= self.__saldo:
self.__saldo -= valor
else:
print("Saldo insuficiente ou valor inválido.")
# Testando a classe
conta = ContaBancaria("João", 1000)
print("Saldo inicial:", conta.get_saldo()) # Saldo inicial: 1000
conta.depositar(500)
print("Saldo após depósito:", conta.get_saldo()) # Saldo: 1500
conta.sacar(300)
print("Saldo após saque:", conta.get_saldo()) # Saldo: 1200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WKNU6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1b55dbcd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61b55dbc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1b55dbcd4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61b55dbc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61b55dbcd4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61b55dbcd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b55dbcd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61b55dbc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1b55dbcd4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61b55dbcd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1b55dbcd4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61b55dbc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61b55dbcd4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61b55dbcd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91" name="Google Shape;191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93" name="Google Shape;193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5" name="Google Shape;205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06" name="Google Shape;206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27" name="Google Shape;227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29" name="Google Shape;229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235" name="Google Shape;235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238" name="Google Shape;238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242" name="Google Shape;242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244" name="Google Shape;244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253" name="Google Shape;253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256" name="Google Shape;256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59" name="Google Shape;259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61" name="Google Shape;261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64" name="Google Shape;264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65" name="Google Shape;265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0" name="Google Shape;270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1" name="Google Shape;271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273" name="Google Shape;273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8" name="Google Shape;278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279" name="Google Shape;279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280" name="Google Shape;280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" name="Google Shape;288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" name="Google Shape;289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290" name="Google Shape;290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" name="Google Shape;296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" name="Google Shape;297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298" name="Google Shape;298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305" name="Google Shape;305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1" name="Google Shape;311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3" name="Google Shape;313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16" name="Google Shape;316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7" name="Google Shape;317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21" name="Google Shape;321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22" name="Google Shape;322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7" name="Google Shape;327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8" name="Google Shape;328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29" name="Google Shape;329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30" name="Google Shape;330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8" name="Google Shape;338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39" name="Google Shape;339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5" name="Google Shape;345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6" name="Google Shape;346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49" name="Google Shape;349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51" name="Google Shape;351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60" name="Google Shape;360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2" name="Google Shape;362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63" name="Google Shape;363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64" name="Google Shape;364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368" name="Google Shape;368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369" name="Google Shape;369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" name="Google Shape;374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375" name="Google Shape;375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7" name="Google Shape;377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78" name="Google Shape;378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80" name="Google Shape;380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387" name="Google Shape;387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" name="Google Shape;388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389" name="Google Shape;389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90" name="Google Shape;390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" name="Google Shape;395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6" name="Google Shape;396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397" name="Google Shape;397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8" name="Google Shape;398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" name="Google Shape;405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09" name="Google Shape;409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11" name="Google Shape;411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3" name="Google Shape;413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14" name="Google Shape;414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15" name="Google Shape;415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18" name="Google Shape;418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28" name="Google Shape;428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31" name="Google Shape;431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40" name="Google Shape;440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44" name="Google Shape;444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47" name="Google Shape;447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51" name="Google Shape;451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" name="Google Shape;456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57" name="Google Shape;457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471" name="Google Shape;471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474" name="Google Shape;47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9" name="Google Shape;479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/>
              <a:t>Abstração e Encapsulamento</a:t>
            </a:r>
            <a:endParaRPr sz="5000"/>
          </a:p>
        </p:txBody>
      </p:sp>
      <p:grpSp>
        <p:nvGrpSpPr>
          <p:cNvPr id="488" name="Google Shape;488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489" name="Google Shape;489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496" name="Google Shape;496;p2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497" name="Google Shape;497;p2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ABSTRAÇÃO</a:t>
            </a:r>
            <a:endParaRPr/>
          </a:p>
        </p:txBody>
      </p:sp>
      <p:sp>
        <p:nvSpPr>
          <p:cNvPr id="498" name="Google Shape;498;p2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499" name="Google Shape;499;p2"/>
          <p:cNvSpPr txBox="1"/>
          <p:nvPr>
            <p:ph idx="4" type="subTitle"/>
          </p:nvPr>
        </p:nvSpPr>
        <p:spPr>
          <a:xfrm>
            <a:off x="5091475" y="1940672"/>
            <a:ext cx="3046685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1900"/>
              <a:t>EXEMPLO: ABSTRAÇÃO</a:t>
            </a:r>
            <a:endParaRPr sz="1900"/>
          </a:p>
        </p:txBody>
      </p:sp>
      <p:sp>
        <p:nvSpPr>
          <p:cNvPr id="500" name="Google Shape;500;p2"/>
          <p:cNvSpPr txBox="1"/>
          <p:nvPr>
            <p:ph type="title"/>
          </p:nvPr>
        </p:nvSpPr>
        <p:spPr>
          <a:xfrm>
            <a:off x="2100875" y="29958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501" name="Google Shape;501;p2"/>
          <p:cNvSpPr txBox="1"/>
          <p:nvPr>
            <p:ph idx="1" type="subTitle"/>
          </p:nvPr>
        </p:nvSpPr>
        <p:spPr>
          <a:xfrm>
            <a:off x="1234025" y="35671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ENCAPSULAMENTO</a:t>
            </a:r>
            <a:endParaRPr sz="1800"/>
          </a:p>
        </p:txBody>
      </p:sp>
      <p:sp>
        <p:nvSpPr>
          <p:cNvPr id="502" name="Google Shape;502;p2"/>
          <p:cNvSpPr txBox="1"/>
          <p:nvPr>
            <p:ph idx="3" type="title"/>
          </p:nvPr>
        </p:nvSpPr>
        <p:spPr>
          <a:xfrm>
            <a:off x="5958325" y="29958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04</a:t>
            </a:r>
            <a:endParaRPr/>
          </a:p>
        </p:txBody>
      </p:sp>
      <p:sp>
        <p:nvSpPr>
          <p:cNvPr id="503" name="Google Shape;503;p2"/>
          <p:cNvSpPr txBox="1"/>
          <p:nvPr>
            <p:ph idx="4" type="subTitle"/>
          </p:nvPr>
        </p:nvSpPr>
        <p:spPr>
          <a:xfrm>
            <a:off x="5091475" y="3658472"/>
            <a:ext cx="304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1900"/>
              <a:t>EXEMPLO: ENCAPSULAMENTO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 ABSTRAÇÃO</a:t>
            </a:r>
            <a:endParaRPr/>
          </a:p>
        </p:txBody>
      </p:sp>
      <p:sp>
        <p:nvSpPr>
          <p:cNvPr id="509" name="Google Shape;509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"/>
          <p:cNvSpPr txBox="1"/>
          <p:nvPr>
            <p:ph idx="1" type="subTitle"/>
          </p:nvPr>
        </p:nvSpPr>
        <p:spPr>
          <a:xfrm>
            <a:off x="713370" y="2219210"/>
            <a:ext cx="4850293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A abstração foca em representar apenas os detalhes essenciais de uma entidade, ignorando características irrelevantes para o problema atual.</a:t>
            </a:r>
            <a:endParaRPr sz="1800"/>
          </a:p>
        </p:txBody>
      </p:sp>
      <p:sp>
        <p:nvSpPr>
          <p:cNvPr id="515" name="Google Shape;515;p4"/>
          <p:cNvSpPr txBox="1"/>
          <p:nvPr>
            <p:ph type="title"/>
          </p:nvPr>
        </p:nvSpPr>
        <p:spPr>
          <a:xfrm>
            <a:off x="713370" y="1032252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ABSTRAÇÃO?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1b55dbcd4_0_1"/>
          <p:cNvSpPr txBox="1"/>
          <p:nvPr>
            <p:ph type="title"/>
          </p:nvPr>
        </p:nvSpPr>
        <p:spPr>
          <a:xfrm>
            <a:off x="1320300" y="2229458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 EXEMPLOS: ABSTRAÇÃO</a:t>
            </a:r>
            <a:endParaRPr/>
          </a:p>
        </p:txBody>
      </p:sp>
      <p:sp>
        <p:nvSpPr>
          <p:cNvPr id="521" name="Google Shape;521;g361b55dbcd4_0_1"/>
          <p:cNvSpPr txBox="1"/>
          <p:nvPr>
            <p:ph idx="2" type="title"/>
          </p:nvPr>
        </p:nvSpPr>
        <p:spPr>
          <a:xfrm>
            <a:off x="3868950" y="1163050"/>
            <a:ext cx="1406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17bb5a9ba_0_3"/>
          <p:cNvSpPr txBox="1"/>
          <p:nvPr>
            <p:ph idx="2" type="subTitle"/>
          </p:nvPr>
        </p:nvSpPr>
        <p:spPr>
          <a:xfrm>
            <a:off x="720000" y="2078950"/>
            <a:ext cx="3715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No contexto de uma biblioteca, ao criar uma classe Livro, os detalhes como o número de páginas rasgadas ou o fornecedor do papel podem ser ignorados. O foco seria em propriedades essenciais, como título, autor e ISBN.</a:t>
            </a:r>
            <a:endParaRPr sz="1900"/>
          </a:p>
        </p:txBody>
      </p:sp>
      <p:sp>
        <p:nvSpPr>
          <p:cNvPr id="527" name="Google Shape;527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1: Sistema de Biblioteca</a:t>
            </a:r>
            <a:endParaRPr/>
          </a:p>
        </p:txBody>
      </p:sp>
      <p:sp>
        <p:nvSpPr>
          <p:cNvPr id="528" name="Google Shape;528;g3617bb5a9ba_0_3"/>
          <p:cNvSpPr txBox="1"/>
          <p:nvPr/>
        </p:nvSpPr>
        <p:spPr>
          <a:xfrm>
            <a:off x="4663850" y="1509750"/>
            <a:ext cx="3619800" cy="212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class Livro: </a:t>
            </a:r>
            <a:endParaRPr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def __init__(self, titulo, autor, isbn):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self.titulo = titulo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self.autor = autor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self.isbn = isbn </a:t>
            </a:r>
            <a:endParaRPr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def exibir_detalhes(self):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return f"'{self.titulo}' por {self.autor} (ISBN: {self.isbn})”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1b55dbcd4_0_11"/>
          <p:cNvSpPr txBox="1"/>
          <p:nvPr>
            <p:ph idx="2" type="subTitle"/>
          </p:nvPr>
        </p:nvSpPr>
        <p:spPr>
          <a:xfrm>
            <a:off x="720000" y="2078950"/>
            <a:ext cx="3715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No contexto de um jogo, ao modelar um personagem, é importante focar nas características relevantes como saúde, ataque e defesa, e não em atributos como o tamanho do pé do personagem.</a:t>
            </a:r>
            <a:endParaRPr sz="1900"/>
          </a:p>
        </p:txBody>
      </p:sp>
      <p:sp>
        <p:nvSpPr>
          <p:cNvPr id="534" name="Google Shape;534;g361b55dbcd4_0_11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2: Abstração em um Jogo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35" name="Google Shape;535;g361b55dbcd4_0_11"/>
          <p:cNvSpPr txBox="1"/>
          <p:nvPr/>
        </p:nvSpPr>
        <p:spPr>
          <a:xfrm>
            <a:off x="4678600" y="1118650"/>
            <a:ext cx="3619800" cy="341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class Personagem: </a:t>
            </a:r>
            <a:endParaRPr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def __init__(self, nome, saude, ataque, defesa):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self.nome = nome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self.saude = saude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self.ataque = ataque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self.defesa = defesa </a:t>
            </a:r>
            <a:endParaRPr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def atacar(self, inimigo):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dano = max(0, self.ataque - inimigo.defesa)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inimigo.saude -= dano 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return f"{self.nome} atacou {inimigo.nome} causando {dano} de dano!”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17bb5a9ba_0_22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300"/>
              <a:t>ENCAPSULAMENTO</a:t>
            </a:r>
            <a:endParaRPr sz="5300"/>
          </a:p>
        </p:txBody>
      </p:sp>
      <p:sp>
        <p:nvSpPr>
          <p:cNvPr id="541" name="Google Shape;541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1b55dbcd4_0_38"/>
          <p:cNvSpPr txBox="1"/>
          <p:nvPr>
            <p:ph idx="1" type="subTitle"/>
          </p:nvPr>
        </p:nvSpPr>
        <p:spPr>
          <a:xfrm>
            <a:off x="713370" y="2219210"/>
            <a:ext cx="48504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Encapsulamento refere-se a proteger os dados de uma classe, controlando como eles são acessados e modificados. Isso é feito através de modificadores de acesso</a:t>
            </a:r>
            <a:endParaRPr sz="1800"/>
          </a:p>
        </p:txBody>
      </p:sp>
      <p:sp>
        <p:nvSpPr>
          <p:cNvPr id="547" name="Google Shape;547;g361b55dbcd4_0_38"/>
          <p:cNvSpPr txBox="1"/>
          <p:nvPr>
            <p:ph type="title"/>
          </p:nvPr>
        </p:nvSpPr>
        <p:spPr>
          <a:xfrm>
            <a:off x="713370" y="1032252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700"/>
              <a:t>O QUE É ENCAPSULAMENTO?</a:t>
            </a:r>
            <a:endParaRPr sz="2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1b55dbcd4_0_26"/>
          <p:cNvSpPr txBox="1"/>
          <p:nvPr>
            <p:ph idx="1" type="subTitle"/>
          </p:nvPr>
        </p:nvSpPr>
        <p:spPr>
          <a:xfrm>
            <a:off x="1371227" y="1563977"/>
            <a:ext cx="2747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public: </a:t>
            </a:r>
            <a:endParaRPr/>
          </a:p>
        </p:txBody>
      </p:sp>
      <p:sp>
        <p:nvSpPr>
          <p:cNvPr id="553" name="Google Shape;553;g361b55dbcd4_0_26"/>
          <p:cNvSpPr txBox="1"/>
          <p:nvPr>
            <p:ph idx="2" type="subTitle"/>
          </p:nvPr>
        </p:nvSpPr>
        <p:spPr>
          <a:xfrm>
            <a:off x="1530972" y="1935377"/>
            <a:ext cx="2428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Acessível de qualquer lugar.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54" name="Google Shape;554;g361b55dbcd4_0_26"/>
          <p:cNvSpPr txBox="1"/>
          <p:nvPr>
            <p:ph idx="7" type="subTitle"/>
          </p:nvPr>
        </p:nvSpPr>
        <p:spPr>
          <a:xfrm>
            <a:off x="4976941" y="15639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private:</a:t>
            </a:r>
            <a:endParaRPr sz="2000"/>
          </a:p>
        </p:txBody>
      </p:sp>
      <p:sp>
        <p:nvSpPr>
          <p:cNvPr id="555" name="Google Shape;555;g361b55dbcd4_0_26"/>
          <p:cNvSpPr txBox="1"/>
          <p:nvPr>
            <p:ph idx="8" type="subTitle"/>
          </p:nvPr>
        </p:nvSpPr>
        <p:spPr>
          <a:xfrm>
            <a:off x="4976951" y="1994400"/>
            <a:ext cx="26166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Acessível apenas dentro da própria classe (em Python, usa-se __atributo).</a:t>
            </a:r>
            <a:endParaRPr/>
          </a:p>
        </p:txBody>
      </p:sp>
      <p:sp>
        <p:nvSpPr>
          <p:cNvPr id="556" name="Google Shape;556;g361b55dbcd4_0_26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Principais Conceitos da POO</a:t>
            </a:r>
            <a:endParaRPr/>
          </a:p>
        </p:txBody>
      </p:sp>
      <p:sp>
        <p:nvSpPr>
          <p:cNvPr id="557" name="Google Shape;557;g361b55dbcd4_0_26"/>
          <p:cNvSpPr txBox="1"/>
          <p:nvPr>
            <p:ph idx="7" type="subTitle"/>
          </p:nvPr>
        </p:nvSpPr>
        <p:spPr>
          <a:xfrm>
            <a:off x="3428091" y="3107267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protected:</a:t>
            </a:r>
            <a:endParaRPr sz="2000"/>
          </a:p>
        </p:txBody>
      </p:sp>
      <p:sp>
        <p:nvSpPr>
          <p:cNvPr id="558" name="Google Shape;558;g361b55dbcd4_0_26"/>
          <p:cNvSpPr txBox="1"/>
          <p:nvPr>
            <p:ph idx="8" type="subTitle"/>
          </p:nvPr>
        </p:nvSpPr>
        <p:spPr>
          <a:xfrm>
            <a:off x="2400899" y="3478675"/>
            <a:ext cx="4342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Acessível dentro da classe e subclasses (em Python, usa-se _atributo).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1b55dbcd4_0_55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300"/>
              <a:t>EXEMPLO: </a:t>
            </a:r>
            <a:r>
              <a:rPr lang="pt-BR" sz="4300"/>
              <a:t>ENCAPSULAMENTO</a:t>
            </a:r>
            <a:endParaRPr sz="5300"/>
          </a:p>
        </p:txBody>
      </p:sp>
      <p:sp>
        <p:nvSpPr>
          <p:cNvPr id="564" name="Google Shape;564;g361b55dbcd4_0_55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61b55dbcd4_0_60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1: Conta </a:t>
            </a:r>
            <a:r>
              <a:rPr lang="pt-BR"/>
              <a:t>Bancária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70" name="Google Shape;570;g361b55dbcd4_0_60"/>
          <p:cNvSpPr txBox="1"/>
          <p:nvPr/>
        </p:nvSpPr>
        <p:spPr>
          <a:xfrm>
            <a:off x="720000" y="1097600"/>
            <a:ext cx="3619800" cy="221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class ContaBancaria:</a:t>
            </a:r>
            <a:endParaRPr sz="1200"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def __init__(self, titular, saldo):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self.__titular = titular  # Atributo privado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 self.__saldo = saldo  # Atributo privado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# Getter para acessar o saldo</a:t>
            </a:r>
            <a:endParaRPr sz="1200"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def get_saldo(self):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return self.__saldo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571" name="Google Shape;571;g361b55dbcd4_0_60"/>
          <p:cNvSpPr txBox="1"/>
          <p:nvPr/>
        </p:nvSpPr>
        <p:spPr>
          <a:xfrm>
            <a:off x="4991050" y="912800"/>
            <a:ext cx="3000000" cy="277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# Setter para alterar o saldo (com validação)</a:t>
            </a:r>
            <a:endParaRPr sz="1200"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def depositar(self, valor):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if valor &gt; 0:</a:t>
            </a:r>
            <a:endParaRPr sz="1200">
              <a:solidFill>
                <a:schemeClr val="accent4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self.__saldo += valor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else:</a:t>
            </a:r>
            <a:endParaRPr sz="1200">
              <a:solidFill>
                <a:schemeClr val="accent4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print("O valor precisa ser positivo.")</a:t>
            </a:r>
            <a:endParaRPr sz="1200"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def sacar(self, valor):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if 0 &lt; valor &lt;= self.__saldo: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           self.__saldo -= valor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else:</a:t>
            </a:r>
            <a:endParaRPr sz="1200"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4"/>
                </a:solidFill>
              </a:rPr>
              <a:t>           print("Saldo insuficiente ou valor inválido.")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572" name="Google Shape;572;g361b55dbcd4_0_60"/>
          <p:cNvSpPr txBox="1"/>
          <p:nvPr/>
        </p:nvSpPr>
        <p:spPr>
          <a:xfrm>
            <a:off x="2080500" y="3974550"/>
            <a:ext cx="4983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Em Python, getters e setters são métodos usados para acessar (get) e modificar (set) os atributos (variáveis) de uma classe de forma controlada.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61b55dbcd4_0_79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1: Conta Bancária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78" name="Google Shape;578;g361b55dbcd4_0_79"/>
          <p:cNvSpPr txBox="1"/>
          <p:nvPr/>
        </p:nvSpPr>
        <p:spPr>
          <a:xfrm>
            <a:off x="1494900" y="1576125"/>
            <a:ext cx="6154200" cy="212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# Testando a classe</a:t>
            </a:r>
            <a:endParaRPr>
              <a:solidFill>
                <a:schemeClr val="accent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conta = ContaBancaria("João", 1000)</a:t>
            </a:r>
            <a:endParaRPr>
              <a:solidFill>
                <a:schemeClr val="accent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print("Saldo inicial:", conta.get_saldo())  # Saldo inicial: 1000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conta.depositar(500)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print("Saldo após depósito:", conta.get_saldo())  # Saldo: 1500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conta.sacar(300)</a:t>
            </a:r>
            <a:endParaRPr>
              <a:solidFill>
                <a:schemeClr val="accent4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print("Saldo após saque:", conta.get_saldo())  # Saldo: 1200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