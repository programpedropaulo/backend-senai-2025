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Anaheim"/>
      <p:regular r:id="rId18"/>
      <p:bold r:id="rId19"/>
    </p:embeddedFont>
    <p:embeddedFont>
      <p:font typeface="Barlow Condensed ExtraBold"/>
      <p:bold r:id="rId20"/>
      <p:boldItalic r:id="rId21"/>
    </p:embeddedFont>
    <p:embeddedFont>
      <p:font typeface="Overpass Mono"/>
      <p:regular r:id="rId22"/>
      <p:bold r:id="rId23"/>
    </p:embeddedFont>
    <p:embeddedFont>
      <p:font typeface="Barl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4xllXFJn+9lqrp+H6DLVW7CK+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CondensedExtraBold-bold.fntdata"/><Relationship Id="rId22" Type="http://schemas.openxmlformats.org/officeDocument/2006/relationships/font" Target="fonts/OverpassMono-regular.fntdata"/><Relationship Id="rId21" Type="http://schemas.openxmlformats.org/officeDocument/2006/relationships/font" Target="fonts/BarlowCondensedExtraBold-boldItalic.fntdata"/><Relationship Id="rId24" Type="http://schemas.openxmlformats.org/officeDocument/2006/relationships/font" Target="fonts/Barlow-regular.fntdata"/><Relationship Id="rId23" Type="http://schemas.openxmlformats.org/officeDocument/2006/relationships/font" Target="fonts/Overpass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italic.fntdata"/><Relationship Id="rId25" Type="http://schemas.openxmlformats.org/officeDocument/2006/relationships/font" Target="fonts/Barlow-bold.fntdata"/><Relationship Id="rId28" Type="http://customschemas.google.com/relationships/presentationmetadata" Target="metadata"/><Relationship Id="rId27" Type="http://schemas.openxmlformats.org/officeDocument/2006/relationships/font" Target="fonts/Barlow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naheim-bold.fntdata"/><Relationship Id="rId18" Type="http://schemas.openxmlformats.org/officeDocument/2006/relationships/font" Target="fonts/Anahei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f8d4df131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5f8d4df13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f8d4df131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5f8d4df13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fed77556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5fed7755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f8d4df131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5f8d4df13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8d4df131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5f8d4df13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fed775564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5fed77556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fed775564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5fed7755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f8d4df131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5f8d4df13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f8d4df131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5f8d4df13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1049134" y="938616"/>
            <a:ext cx="212098" cy="385776"/>
          </a:xfrm>
          <a:custGeom>
            <a:rect b="b" l="l" r="r" t="t"/>
            <a:pathLst>
              <a:path extrusionOk="0" h="5633" w="3097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873813" y="1008745"/>
            <a:ext cx="167240" cy="245519"/>
          </a:xfrm>
          <a:custGeom>
            <a:rect b="b" l="l" r="r" t="t"/>
            <a:pathLst>
              <a:path extrusionOk="0" h="3585" w="2442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268492" y="1008745"/>
            <a:ext cx="168062" cy="245519"/>
          </a:xfrm>
          <a:custGeom>
            <a:rect b="b" l="l" r="r" t="t"/>
            <a:pathLst>
              <a:path extrusionOk="0" h="3585" w="2454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9"/>
          <p:cNvSpPr txBox="1"/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50" name="Google Shape;50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0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0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0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0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0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8" name="Google Shape;58;p30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59" name="Google Shape;59;p30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61" name="Google Shape;61;p30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30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4" name="Google Shape;64;p30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" name="Google Shape;66;p30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1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1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1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1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1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1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1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1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1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1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1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1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1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1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1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1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1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1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31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2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2" name="Google Shape;92;p32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2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2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2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2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2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2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2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2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2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2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2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2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2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2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2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2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2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2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2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2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2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2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2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2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2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2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2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2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26" name="Google Shape;126;p39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127" name="Google Shape;127;p39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128" name="Google Shape;128;p39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9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1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1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1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41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41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b="0" i="0" sz="14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38" name="Google Shape;138;p41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1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1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1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1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1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1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1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1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3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50" name="Google Shape;150;p33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54" name="Google Shape;154;p34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56" name="Google Shape;156;p34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58" name="Google Shape;158;p34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60" name="Google Shape;160;p34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62" name="Google Shape;162;p34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64" name="Google Shape;164;p34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65" name="Google Shape;165;p34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4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70" name="Google Shape;170;p35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5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76" name="Google Shape;176;p37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37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78" name="Google Shape;178;p37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37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180" name="Google Shape;180;p37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58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4" name="Google Shape;184;p38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6" name="Google Shape;186;p38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8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8" name="Google Shape;18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Title + text 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0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0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0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0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0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0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0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0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0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0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 txBox="1"/>
          <p:nvPr>
            <p:ph type="ctrTitle"/>
          </p:nvPr>
        </p:nvSpPr>
        <p:spPr>
          <a:xfrm>
            <a:off x="720725" y="1616550"/>
            <a:ext cx="63804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</a:pPr>
            <a:r>
              <a:rPr lang="pt-BR" sz="5600"/>
              <a:t>LEVANTAMENTO DE REQUISITOS</a:t>
            </a:r>
            <a:endParaRPr sz="5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CONTEÚDOS</a:t>
            </a:r>
            <a:endParaRPr/>
          </a:p>
        </p:txBody>
      </p:sp>
      <p:sp>
        <p:nvSpPr>
          <p:cNvPr id="221" name="Google Shape;221;p2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500"/>
              <a:t>01</a:t>
            </a:r>
            <a:endParaRPr b="1" sz="3500"/>
          </a:p>
        </p:txBody>
      </p:sp>
      <p:sp>
        <p:nvSpPr>
          <p:cNvPr id="222" name="Google Shape;222;p2"/>
          <p:cNvSpPr txBox="1"/>
          <p:nvPr>
            <p:ph idx="1" type="subTitle"/>
          </p:nvPr>
        </p:nvSpPr>
        <p:spPr>
          <a:xfrm flipH="1">
            <a:off x="13963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DEFINIÇÃO</a:t>
            </a:r>
            <a:endParaRPr b="1" sz="220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23" name="Google Shape;223;p2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pt-BR" sz="3500"/>
              <a:t>02</a:t>
            </a:r>
            <a:endParaRPr b="1" sz="3500"/>
          </a:p>
        </p:txBody>
      </p:sp>
      <p:sp>
        <p:nvSpPr>
          <p:cNvPr id="224" name="Google Shape;224;p2"/>
          <p:cNvSpPr txBox="1"/>
          <p:nvPr>
            <p:ph idx="3" type="subTitle"/>
          </p:nvPr>
        </p:nvSpPr>
        <p:spPr>
          <a:xfrm flipH="1">
            <a:off x="4661875" y="2162325"/>
            <a:ext cx="3882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OBJETIVOS DA MODELAGEM DE SISTEMAS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5" name="Google Shape;225;p2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226" name="Google Shape;226;p2"/>
          <p:cNvSpPr txBox="1"/>
          <p:nvPr>
            <p:ph idx="7" type="subTitle"/>
          </p:nvPr>
        </p:nvSpPr>
        <p:spPr>
          <a:xfrm flipH="1">
            <a:off x="1396276" y="3573487"/>
            <a:ext cx="2381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COMPONENTES DA MODELAGEM</a:t>
            </a:r>
            <a:endParaRPr/>
          </a:p>
        </p:txBody>
      </p:sp>
      <p:sp>
        <p:nvSpPr>
          <p:cNvPr id="227" name="Google Shape;227;p2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04</a:t>
            </a:r>
            <a:endParaRPr/>
          </a:p>
        </p:txBody>
      </p:sp>
      <p:sp>
        <p:nvSpPr>
          <p:cNvPr id="228" name="Google Shape;228;p2"/>
          <p:cNvSpPr txBox="1"/>
          <p:nvPr>
            <p:ph idx="9" type="subTitle"/>
          </p:nvPr>
        </p:nvSpPr>
        <p:spPr>
          <a:xfrm flipH="1">
            <a:off x="4811675" y="3573468"/>
            <a:ext cx="2503524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/>
              <a:t>FORMA DE REPRESENTAÇÃO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234" name="Google Shape;234;p3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f8d4df131_0_50"/>
          <p:cNvSpPr txBox="1"/>
          <p:nvPr>
            <p:ph type="title"/>
          </p:nvPr>
        </p:nvSpPr>
        <p:spPr>
          <a:xfrm>
            <a:off x="127800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 de Requisitos</a:t>
            </a:r>
            <a:endParaRPr/>
          </a:p>
        </p:txBody>
      </p:sp>
      <p:sp>
        <p:nvSpPr>
          <p:cNvPr id="240" name="Google Shape;240;g35f8d4df131_0_50"/>
          <p:cNvSpPr txBox="1"/>
          <p:nvPr/>
        </p:nvSpPr>
        <p:spPr>
          <a:xfrm>
            <a:off x="720725" y="2498650"/>
            <a:ext cx="3624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Descrevem funções específicas.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"O sistema deve permitir buscas por nome, CPF ou data de nascimento."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41" name="Google Shape;241;g35f8d4df131_0_50"/>
          <p:cNvSpPr txBox="1"/>
          <p:nvPr/>
        </p:nvSpPr>
        <p:spPr>
          <a:xfrm>
            <a:off x="1306475" y="1890725"/>
            <a:ext cx="2453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2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Funcionais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5f8d4df131_0_50"/>
          <p:cNvSpPr txBox="1"/>
          <p:nvPr/>
        </p:nvSpPr>
        <p:spPr>
          <a:xfrm>
            <a:off x="4524775" y="2510400"/>
            <a:ext cx="3624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Restrição sobre desempenho, segurança ou outras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qualidades.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"O sistema deve ser acessível em dispositivos móveis."</a:t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43" name="Google Shape;243;g35f8d4df131_0_50"/>
          <p:cNvSpPr txBox="1"/>
          <p:nvPr/>
        </p:nvSpPr>
        <p:spPr>
          <a:xfrm>
            <a:off x="5110525" y="1890713"/>
            <a:ext cx="2453100" cy="529800"/>
          </a:xfrm>
          <a:prstGeom prst="rect">
            <a:avLst/>
          </a:prstGeom>
          <a:solidFill>
            <a:srgbClr val="EC008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</a:pPr>
            <a:r>
              <a:rPr b="1" lang="pt-BR" sz="200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Não funcionais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f8d4df131_0_50"/>
          <p:cNvSpPr txBox="1"/>
          <p:nvPr/>
        </p:nvSpPr>
        <p:spPr>
          <a:xfrm>
            <a:off x="1983725" y="1012200"/>
            <a:ext cx="579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São declarações claras sobre o que o sistema deve fazer ou como deve funcionar. Se divide em: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f8d4df131_0_3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IMPORTÂNCIA</a:t>
            </a:r>
            <a:r>
              <a:rPr lang="pt-BR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DOS REQUISITOS</a:t>
            </a:r>
            <a:endParaRPr/>
          </a:p>
        </p:txBody>
      </p:sp>
      <p:sp>
        <p:nvSpPr>
          <p:cNvPr id="250" name="Google Shape;250;g35f8d4df131_0_3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fed775564_0_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Por que requisitos são importantes?</a:t>
            </a:r>
            <a:endParaRPr/>
          </a:p>
        </p:txBody>
      </p:sp>
      <p:sp>
        <p:nvSpPr>
          <p:cNvPr id="256" name="Google Shape;256;g35fed775564_0_1"/>
          <p:cNvSpPr txBox="1"/>
          <p:nvPr/>
        </p:nvSpPr>
        <p:spPr>
          <a:xfrm>
            <a:off x="1865550" y="1672000"/>
            <a:ext cx="54129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Evita o retrabalho: Aumentam as chances de atender corretamente às</a:t>
            </a:r>
            <a:endParaRPr sz="2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expectativas.</a:t>
            </a:r>
            <a:endParaRPr sz="2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Economia de recursos: A correção de problemas no início é mais barata</a:t>
            </a:r>
            <a:endParaRPr sz="23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do que corrigir no final.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f8d4df131_0_75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APRESENTAÇÃO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TÉCNICA</a:t>
            </a:r>
            <a:endParaRPr/>
          </a:p>
        </p:txBody>
      </p:sp>
      <p:sp>
        <p:nvSpPr>
          <p:cNvPr id="262" name="Google Shape;262;g35f8d4df131_0_75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f8d4df131_0_9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Apresentação de Técnicas</a:t>
            </a:r>
            <a:endParaRPr/>
          </a:p>
        </p:txBody>
      </p:sp>
      <p:sp>
        <p:nvSpPr>
          <p:cNvPr id="268" name="Google Shape;268;g35f8d4df131_0_96"/>
          <p:cNvSpPr txBox="1"/>
          <p:nvPr/>
        </p:nvSpPr>
        <p:spPr>
          <a:xfrm>
            <a:off x="222925" y="1012200"/>
            <a:ext cx="4509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1. Entrevistas: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Técnica tradicional de perguntas e respostas com stakeholders.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Vantagem: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Dá insights detalhados diretamente do cliente.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Desvantagem: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Pode ser subjetiva, dependendo da comunicação.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"Quantos usuários esperados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acessam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simultaneamente o sistema?"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69" name="Google Shape;269;g35f8d4df131_0_96"/>
          <p:cNvSpPr txBox="1"/>
          <p:nvPr/>
        </p:nvSpPr>
        <p:spPr>
          <a:xfrm>
            <a:off x="4732525" y="1012200"/>
            <a:ext cx="4024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2. Workshops: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Reuniões colaborativas para definição de requisitos.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Vantagem: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Permite alinhamento rápido entre várias partes interessadas.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Criar fluxos de trabalho para uma solução de e-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commerce.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fed775564_0_2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Apresentação de Técnicas</a:t>
            </a:r>
            <a:endParaRPr/>
          </a:p>
        </p:txBody>
      </p:sp>
      <p:sp>
        <p:nvSpPr>
          <p:cNvPr id="275" name="Google Shape;275;g35fed775564_0_29"/>
          <p:cNvSpPr txBox="1"/>
          <p:nvPr/>
        </p:nvSpPr>
        <p:spPr>
          <a:xfrm>
            <a:off x="222925" y="1012200"/>
            <a:ext cx="45096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3. Prototipagem: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Desenvolvimento de maquetes ou wireframes para validação.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Criar um protótipo simples do app de entregas para discutir requisitos visuais e interativos.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76" name="Google Shape;276;g35fed775564_0_29"/>
          <p:cNvSpPr txBox="1"/>
          <p:nvPr/>
        </p:nvSpPr>
        <p:spPr>
          <a:xfrm>
            <a:off x="4732525" y="1012200"/>
            <a:ext cx="4024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4. Observação: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Análise do ambiente de trabalho para identificar processos reais.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</a:t>
            </a: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Observar como um restaurante organiza pedidos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manualmente.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fed775564_0_36"/>
          <p:cNvSpPr txBox="1"/>
          <p:nvPr>
            <p:ph type="title"/>
          </p:nvPr>
        </p:nvSpPr>
        <p:spPr>
          <a:xfrm>
            <a:off x="454800" y="28846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PRIORIZAÇÃO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/>
              <a:t>DE REQUISITOS</a:t>
            </a:r>
            <a:endParaRPr/>
          </a:p>
        </p:txBody>
      </p:sp>
      <p:sp>
        <p:nvSpPr>
          <p:cNvPr id="282" name="Google Shape;282;g35fed775564_0_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f8d4df131_0_11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Técnica MoSCoW</a:t>
            </a:r>
            <a:endParaRPr/>
          </a:p>
        </p:txBody>
      </p:sp>
      <p:sp>
        <p:nvSpPr>
          <p:cNvPr id="288" name="Google Shape;288;g35f8d4df131_0_111"/>
          <p:cNvSpPr txBox="1"/>
          <p:nvPr/>
        </p:nvSpPr>
        <p:spPr>
          <a:xfrm>
            <a:off x="1073099" y="945625"/>
            <a:ext cx="69978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Must: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Funcionalidades essenciais para o sistema funcionar.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Should: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Desejadas, mas não críticas.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Could: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Funcionalidades adicionais que agregam valor.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Won’t: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Não serão implementadas neste momento.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 </a:t>
            </a: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Sistema de agendamento médico.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Must: "Cadastrar pacientes e consultas."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Should: "Enviar lembretes por SMS."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Could: "Integração com plano de saúde."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• Won’t: "Relatórios financeiros detalhados na primeira versão."</a:t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f8d4df131_0_117"/>
          <p:cNvSpPr txBox="1"/>
          <p:nvPr>
            <p:ph type="title"/>
          </p:nvPr>
        </p:nvSpPr>
        <p:spPr>
          <a:xfrm>
            <a:off x="1278000" y="50275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DER (Documento de Especificação de Requisitos)</a:t>
            </a:r>
            <a:endParaRPr/>
          </a:p>
        </p:txBody>
      </p:sp>
      <p:sp>
        <p:nvSpPr>
          <p:cNvPr id="294" name="Google Shape;294;g35f8d4df131_0_117"/>
          <p:cNvSpPr txBox="1"/>
          <p:nvPr/>
        </p:nvSpPr>
        <p:spPr>
          <a:xfrm>
            <a:off x="761300" y="1086450"/>
            <a:ext cx="3872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DER (Documento de Especificação de Requisitos)</a:t>
            </a:r>
            <a:endParaRPr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Estrutura básica:</a:t>
            </a:r>
            <a:endParaRPr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Introdução ao projeto </a:t>
            </a:r>
            <a:r>
              <a:rPr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(objetivos e escopo).</a:t>
            </a:r>
            <a:endParaRPr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Requisitos Funcionais e Não Funcionais.</a:t>
            </a:r>
            <a:endParaRPr b="1"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Casos de Uso</a:t>
            </a:r>
            <a:r>
              <a:rPr lang="pt-BR" sz="19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(se possível, incluindo diagramas).</a:t>
            </a:r>
            <a:endParaRPr sz="19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95" name="Google Shape;295;g35f8d4df131_0_117"/>
          <p:cNvSpPr txBox="1"/>
          <p:nvPr/>
        </p:nvSpPr>
        <p:spPr>
          <a:xfrm>
            <a:off x="4633400" y="1012200"/>
            <a:ext cx="4594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Exemplo: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Caso de Uso: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"O sistema deve permitir o cadastro de novos pacientes."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Ator: Recepcionista.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Fluxo principal: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▪ Recepcionista insere dados pessoais no sistema.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▪ Sistema salva informações no banco de dados.</a:t>
            </a:r>
            <a:endParaRPr sz="12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type="title"/>
          </p:nvPr>
        </p:nvSpPr>
        <p:spPr>
          <a:xfrm>
            <a:off x="2951850" y="1158413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Victor</dc:creator>
</cp:coreProperties>
</file>