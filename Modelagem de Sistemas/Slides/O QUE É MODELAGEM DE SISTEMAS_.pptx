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Anaheim"/>
      <p:regular r:id="rId22"/>
      <p:bold r:id="rId23"/>
    </p:embeddedFont>
    <p:embeddedFont>
      <p:font typeface="Barlow Condensed ExtraBold"/>
      <p:bold r:id="rId24"/>
      <p:boldItalic r:id="rId25"/>
    </p:embeddedFont>
    <p:embeddedFont>
      <p:font typeface="Overpass Mono"/>
      <p:regular r:id="rId26"/>
      <p:bold r:id="rId27"/>
    </p:embeddedFont>
    <p:embeddedFont>
      <p:font typeface="Barlow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DD/OYnYoQnagLjPl0OeWD/bmI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Anaheim-regular.fntdata"/><Relationship Id="rId21" Type="http://schemas.openxmlformats.org/officeDocument/2006/relationships/slide" Target="slides/slide17.xml"/><Relationship Id="rId24" Type="http://schemas.openxmlformats.org/officeDocument/2006/relationships/font" Target="fonts/BarlowCondensedExtraBold-bold.fntdata"/><Relationship Id="rId23" Type="http://schemas.openxmlformats.org/officeDocument/2006/relationships/font" Target="fonts/Anahei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verpassMono-regular.fntdata"/><Relationship Id="rId25" Type="http://schemas.openxmlformats.org/officeDocument/2006/relationships/font" Target="fonts/BarlowCondensedExtraBold-boldItalic.fntdata"/><Relationship Id="rId28" Type="http://schemas.openxmlformats.org/officeDocument/2006/relationships/font" Target="fonts/Barlow-regular.fntdata"/><Relationship Id="rId27" Type="http://schemas.openxmlformats.org/officeDocument/2006/relationships/font" Target="fonts/OverpassMon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-boldItalic.fntdata"/><Relationship Id="rId30" Type="http://schemas.openxmlformats.org/officeDocument/2006/relationships/font" Target="fonts/Barlow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feec2845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5feec284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f8d4df131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5f8d4df13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f8d4df131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5f8d4df13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f8d4df131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5f8d4df13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f8d4df131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5f8d4df13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8d4df131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5f8d4df13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f8d4df131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5f8d4df13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faa07046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5faa0704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faa07046c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5faa07046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faa07046c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5faa07046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faa07046c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5faa0704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faa07046c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5faa07046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1049134" y="938616"/>
            <a:ext cx="212098" cy="385776"/>
          </a:xfrm>
          <a:custGeom>
            <a:rect b="b" l="l" r="r" t="t"/>
            <a:pathLst>
              <a:path extrusionOk="0" h="5633" w="3097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873813" y="1008745"/>
            <a:ext cx="167240" cy="245519"/>
          </a:xfrm>
          <a:custGeom>
            <a:rect b="b" l="l" r="r" t="t"/>
            <a:pathLst>
              <a:path extrusionOk="0" h="3585" w="2442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268492" y="1008745"/>
            <a:ext cx="168062" cy="245519"/>
          </a:xfrm>
          <a:custGeom>
            <a:rect b="b" l="l" r="r" t="t"/>
            <a:pathLst>
              <a:path extrusionOk="0" h="3585" w="2454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9"/>
          <p:cNvSpPr txBox="1"/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50" name="Google Shape;50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0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0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0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0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0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0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8" name="Google Shape;58;p30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59" name="Google Shape;59;p30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0" name="Google Shape;60;p30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61" name="Google Shape;61;p30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2" name="Google Shape;62;p30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30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4" name="Google Shape;64;p30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65" name="Google Shape;65;p30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6" name="Google Shape;66;p30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1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1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1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1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1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1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1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1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1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1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1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1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1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1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1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1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1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1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31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2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2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2" name="Google Shape;92;p32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2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2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2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2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2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2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2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2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2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2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2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2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2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2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2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2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2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2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2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2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2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2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2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2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2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2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2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2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2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2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2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3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27" name="Google Shape;127;p33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4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31" name="Google Shape;131;p34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33" name="Google Shape;133;p34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35" name="Google Shape;135;p34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37" name="Google Shape;137;p34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39" name="Google Shape;139;p34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4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41" name="Google Shape;141;p34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42" name="Google Shape;142;p34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4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5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47" name="Google Shape;147;p35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5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53" name="Google Shape;153;p37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37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55" name="Google Shape;155;p37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37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57" name="Google Shape;157;p37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8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1" name="Google Shape;161;p38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3" name="Google Shape;163;p38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8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5" name="Google Shape;165;p38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8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8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8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8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8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8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8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76" name="Google Shape;176;p39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177" name="Google Shape;177;p39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178" name="Google Shape;178;p39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9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Title + text 2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0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0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0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0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0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0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0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0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0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0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1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1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1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41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41"/>
          <p:cNvSpPr txBox="1"/>
          <p:nvPr/>
        </p:nvSpPr>
        <p:spPr>
          <a:xfrm>
            <a:off x="2510100" y="3306950"/>
            <a:ext cx="41238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b="0" i="0" sz="14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01" name="Google Shape;201;p41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1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1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1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1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1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1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1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1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"/>
          <p:cNvSpPr txBox="1"/>
          <p:nvPr>
            <p:ph type="ctrTitle"/>
          </p:nvPr>
        </p:nvSpPr>
        <p:spPr>
          <a:xfrm>
            <a:off x="720725" y="1616550"/>
            <a:ext cx="63804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</a:pPr>
            <a:r>
              <a:rPr lang="pt-BR" sz="5600"/>
              <a:t>O QUE É MODELAGEM DE SISTEMAS?</a:t>
            </a:r>
            <a:endParaRPr sz="5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CONTEÚDOS</a:t>
            </a:r>
            <a:endParaRPr/>
          </a:p>
        </p:txBody>
      </p:sp>
      <p:sp>
        <p:nvSpPr>
          <p:cNvPr id="221" name="Google Shape;221;p2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1" lang="pt-BR" sz="3500"/>
              <a:t>01</a:t>
            </a:r>
            <a:endParaRPr b="1" sz="3500"/>
          </a:p>
        </p:txBody>
      </p:sp>
      <p:sp>
        <p:nvSpPr>
          <p:cNvPr id="222" name="Google Shape;222;p2"/>
          <p:cNvSpPr txBox="1"/>
          <p:nvPr>
            <p:ph idx="1" type="subTitle"/>
          </p:nvPr>
        </p:nvSpPr>
        <p:spPr>
          <a:xfrm flipH="1">
            <a:off x="13963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pt-BR"/>
              <a:t>DEFINIÇÃO</a:t>
            </a:r>
            <a:endParaRPr b="1" sz="220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223" name="Google Shape;223;p2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1" lang="pt-BR" sz="3500"/>
              <a:t>02</a:t>
            </a:r>
            <a:endParaRPr b="1" sz="3500"/>
          </a:p>
        </p:txBody>
      </p:sp>
      <p:sp>
        <p:nvSpPr>
          <p:cNvPr id="224" name="Google Shape;224;p2"/>
          <p:cNvSpPr txBox="1"/>
          <p:nvPr>
            <p:ph idx="3" type="subTitle"/>
          </p:nvPr>
        </p:nvSpPr>
        <p:spPr>
          <a:xfrm flipH="1">
            <a:off x="4661875" y="2162325"/>
            <a:ext cx="3882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OBJETIVOS DA MODELAGEM DE SISTEMAS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25" name="Google Shape;225;p2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03</a:t>
            </a:r>
            <a:endParaRPr/>
          </a:p>
        </p:txBody>
      </p:sp>
      <p:sp>
        <p:nvSpPr>
          <p:cNvPr id="226" name="Google Shape;226;p2"/>
          <p:cNvSpPr txBox="1"/>
          <p:nvPr>
            <p:ph idx="7" type="subTitle"/>
          </p:nvPr>
        </p:nvSpPr>
        <p:spPr>
          <a:xfrm flipH="1">
            <a:off x="1396276" y="3573487"/>
            <a:ext cx="2381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pt-BR"/>
              <a:t>COMPONENTES DA MODELAGEM</a:t>
            </a:r>
            <a:endParaRPr/>
          </a:p>
        </p:txBody>
      </p:sp>
      <p:sp>
        <p:nvSpPr>
          <p:cNvPr id="227" name="Google Shape;227;p2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04</a:t>
            </a:r>
            <a:endParaRPr/>
          </a:p>
        </p:txBody>
      </p:sp>
      <p:sp>
        <p:nvSpPr>
          <p:cNvPr id="228" name="Google Shape;228;p2"/>
          <p:cNvSpPr txBox="1"/>
          <p:nvPr>
            <p:ph idx="9" type="subTitle"/>
          </p:nvPr>
        </p:nvSpPr>
        <p:spPr>
          <a:xfrm flipH="1">
            <a:off x="4811675" y="3573468"/>
            <a:ext cx="2503524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pt-BR"/>
              <a:t>FORMA DE REPRESENTAÇÃO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feec28455_0_0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CONTEÚDOS</a:t>
            </a:r>
            <a:endParaRPr/>
          </a:p>
        </p:txBody>
      </p:sp>
      <p:sp>
        <p:nvSpPr>
          <p:cNvPr id="234" name="Google Shape;234;g35feec28455_0_0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1" lang="pt-BR" sz="3500"/>
              <a:t>0</a:t>
            </a:r>
            <a:r>
              <a:rPr lang="pt-BR"/>
              <a:t>5</a:t>
            </a:r>
            <a:endParaRPr b="1" sz="3500"/>
          </a:p>
        </p:txBody>
      </p:sp>
      <p:sp>
        <p:nvSpPr>
          <p:cNvPr id="235" name="Google Shape;235;g35feec28455_0_0"/>
          <p:cNvSpPr txBox="1"/>
          <p:nvPr>
            <p:ph idx="1" type="subTitle"/>
          </p:nvPr>
        </p:nvSpPr>
        <p:spPr>
          <a:xfrm flipH="1">
            <a:off x="564850" y="2162325"/>
            <a:ext cx="4070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300"/>
              <a:t>BENEFÍCIOS DA MODELAGEM DO SISTEMA</a:t>
            </a:r>
            <a:endParaRPr b="1" sz="2300">
              <a:latin typeface="Overpass Mono"/>
              <a:ea typeface="Overpass Mono"/>
              <a:cs typeface="Overpass Mono"/>
              <a:sym typeface="Overpas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241" name="Google Shape;241;p3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pt-BR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"/>
          <p:cNvSpPr txBox="1"/>
          <p:nvPr>
            <p:ph idx="1" type="body"/>
          </p:nvPr>
        </p:nvSpPr>
        <p:spPr>
          <a:xfrm>
            <a:off x="4594825" y="1127125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Modelagem de Sistemas é uma etapa essencial no desenvolvimento de soluções computacionais e na análise de processos. Ela consiste em criar abstrações ou representações simplificadas de um sistema real ou imaginado, para compreender sua estrutura, comportamento e interações. Esse processo é útil para projetar, documentar e comunicar sistemas de forma clara, identificando problemas e propondo melhorias antes da implementação prática.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47" name="Google Shape;247;p4"/>
          <p:cNvSpPr txBox="1"/>
          <p:nvPr>
            <p:ph type="title"/>
          </p:nvPr>
        </p:nvSpPr>
        <p:spPr>
          <a:xfrm>
            <a:off x="4564231" y="53975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f8d4df131_0_3"/>
          <p:cNvSpPr txBox="1"/>
          <p:nvPr>
            <p:ph type="title"/>
          </p:nvPr>
        </p:nvSpPr>
        <p:spPr>
          <a:xfrm>
            <a:off x="454800" y="28846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OBJETIVOS DA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MODELAGEM DE SISTEMAS</a:t>
            </a:r>
            <a:endParaRPr/>
          </a:p>
        </p:txBody>
      </p:sp>
      <p:sp>
        <p:nvSpPr>
          <p:cNvPr id="253" name="Google Shape;253;g35f8d4df131_0_3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pt-BR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f8d4df131_0_5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259" name="Google Shape;259;g35f8d4df131_0_50"/>
          <p:cNvSpPr txBox="1"/>
          <p:nvPr/>
        </p:nvSpPr>
        <p:spPr>
          <a:xfrm>
            <a:off x="1278050" y="1643650"/>
            <a:ext cx="28542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Facilitar a compreensão de como o sistema opera ou deve operar.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60" name="Google Shape;260;g35f8d4df131_0_50"/>
          <p:cNvSpPr txBox="1"/>
          <p:nvPr/>
        </p:nvSpPr>
        <p:spPr>
          <a:xfrm>
            <a:off x="1478600" y="1012200"/>
            <a:ext cx="2453100" cy="529800"/>
          </a:xfrm>
          <a:prstGeom prst="rect">
            <a:avLst/>
          </a:prstGeom>
          <a:solidFill>
            <a:srgbClr val="EC008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verpass Mono"/>
              <a:buNone/>
            </a:pPr>
            <a:r>
              <a:rPr b="1" lang="pt-BR" sz="220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Entendimento</a:t>
            </a:r>
            <a:endParaRPr/>
          </a:p>
        </p:txBody>
      </p:sp>
      <p:sp>
        <p:nvSpPr>
          <p:cNvPr id="261" name="Google Shape;261;g35f8d4df131_0_50"/>
          <p:cNvSpPr txBox="1"/>
          <p:nvPr/>
        </p:nvSpPr>
        <p:spPr>
          <a:xfrm>
            <a:off x="5011850" y="1643650"/>
            <a:ext cx="28542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Criar uma base para consulta, manutenção e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atualização do sistema.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62" name="Google Shape;262;g35f8d4df131_0_50"/>
          <p:cNvSpPr txBox="1"/>
          <p:nvPr/>
        </p:nvSpPr>
        <p:spPr>
          <a:xfrm>
            <a:off x="5212400" y="1012200"/>
            <a:ext cx="2453100" cy="529800"/>
          </a:xfrm>
          <a:prstGeom prst="rect">
            <a:avLst/>
          </a:prstGeom>
          <a:solidFill>
            <a:srgbClr val="EC008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verpass Mono"/>
              <a:buNone/>
            </a:pPr>
            <a:r>
              <a:rPr b="1" lang="pt-BR" sz="220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Documentação</a:t>
            </a:r>
            <a:endParaRPr/>
          </a:p>
        </p:txBody>
      </p:sp>
      <p:sp>
        <p:nvSpPr>
          <p:cNvPr id="263" name="Google Shape;263;g35f8d4df131_0_50"/>
          <p:cNvSpPr txBox="1"/>
          <p:nvPr/>
        </p:nvSpPr>
        <p:spPr>
          <a:xfrm>
            <a:off x="1042850" y="3592700"/>
            <a:ext cx="33246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Fornecer uma linguagem comum entre as partes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interessadas, como analistas, desenvolvedores e clientes.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64" name="Google Shape;264;g35f8d4df131_0_50"/>
          <p:cNvSpPr txBox="1"/>
          <p:nvPr/>
        </p:nvSpPr>
        <p:spPr>
          <a:xfrm>
            <a:off x="1478600" y="2961250"/>
            <a:ext cx="2453100" cy="529800"/>
          </a:xfrm>
          <a:prstGeom prst="rect">
            <a:avLst/>
          </a:prstGeom>
          <a:solidFill>
            <a:srgbClr val="EC008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verpass Mono"/>
              <a:buNone/>
            </a:pPr>
            <a:r>
              <a:rPr b="1" lang="pt-BR" sz="220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Comunicação</a:t>
            </a:r>
            <a:endParaRPr/>
          </a:p>
        </p:txBody>
      </p:sp>
      <p:sp>
        <p:nvSpPr>
          <p:cNvPr id="265" name="Google Shape;265;g35f8d4df131_0_50"/>
          <p:cNvSpPr txBox="1"/>
          <p:nvPr/>
        </p:nvSpPr>
        <p:spPr>
          <a:xfrm>
            <a:off x="5011850" y="3592700"/>
            <a:ext cx="28542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Avaliar o comportamento do sistema em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diferentes condições.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66" name="Google Shape;266;g35f8d4df131_0_50"/>
          <p:cNvSpPr txBox="1"/>
          <p:nvPr/>
        </p:nvSpPr>
        <p:spPr>
          <a:xfrm>
            <a:off x="4844900" y="2961250"/>
            <a:ext cx="3188100" cy="529800"/>
          </a:xfrm>
          <a:prstGeom prst="rect">
            <a:avLst/>
          </a:prstGeom>
          <a:solidFill>
            <a:srgbClr val="EC008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verpass Mono"/>
              <a:buNone/>
            </a:pPr>
            <a:r>
              <a:rPr b="1" lang="pt-BR" sz="200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Simulação e análise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f8d4df131_0_75"/>
          <p:cNvSpPr txBox="1"/>
          <p:nvPr>
            <p:ph type="title"/>
          </p:nvPr>
        </p:nvSpPr>
        <p:spPr>
          <a:xfrm>
            <a:off x="454800" y="28846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COMPONENTES DA MODELAGEM</a:t>
            </a:r>
            <a:endParaRPr/>
          </a:p>
        </p:txBody>
      </p:sp>
      <p:sp>
        <p:nvSpPr>
          <p:cNvPr id="272" name="Google Shape;272;g35f8d4df131_0_75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pt-BR"/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f8d4df131_0_9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ENTIDADES</a:t>
            </a:r>
            <a:endParaRPr/>
          </a:p>
        </p:txBody>
      </p:sp>
      <p:sp>
        <p:nvSpPr>
          <p:cNvPr id="278" name="Google Shape;278;g35f8d4df131_0_96"/>
          <p:cNvSpPr txBox="1"/>
          <p:nvPr/>
        </p:nvSpPr>
        <p:spPr>
          <a:xfrm>
            <a:off x="1073099" y="1271525"/>
            <a:ext cx="69978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São os componentes ou objetos fundamentais que compõem o sistema.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Representam "coisas" tangíveis ou abstratas que possuem relevância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no contexto do sistema.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Exemplo no sistema de biblioteca: Usuário, Livro, Funcionário.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f8d4df131_0_11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ATRIBUTOS</a:t>
            </a:r>
            <a:endParaRPr/>
          </a:p>
        </p:txBody>
      </p:sp>
      <p:sp>
        <p:nvSpPr>
          <p:cNvPr id="284" name="Google Shape;284;g35f8d4df131_0_111"/>
          <p:cNvSpPr txBox="1"/>
          <p:nvPr/>
        </p:nvSpPr>
        <p:spPr>
          <a:xfrm>
            <a:off x="1073099" y="1271525"/>
            <a:ext cx="69978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São as características ou propriedades que definem uma entidade. Representam os dados associados a cada entidade.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Exemplo:</a:t>
            </a:r>
            <a:endParaRPr b="1"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Para a entidade </a:t>
            </a: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Usuario</a:t>
            </a: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: Nome, ID, Endereço.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Para a entidade Livro: Título, Autor, ISBN.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f8d4df131_0_11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RELACIONAMENTOS</a:t>
            </a:r>
            <a:endParaRPr/>
          </a:p>
        </p:txBody>
      </p:sp>
      <p:sp>
        <p:nvSpPr>
          <p:cNvPr id="290" name="Google Shape;290;g35f8d4df131_0_117"/>
          <p:cNvSpPr txBox="1"/>
          <p:nvPr/>
        </p:nvSpPr>
        <p:spPr>
          <a:xfrm>
            <a:off x="1073099" y="1271525"/>
            <a:ext cx="69978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Descrevem como as entidades interagem entre si. Indicam associações e dependências no sistema.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Exemplo:</a:t>
            </a:r>
            <a:endParaRPr b="1"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Um Usuário pode emprestar vários Livros.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Um Funcionário pode registrar novos Usuários.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faa07046c_0_0"/>
          <p:cNvSpPr txBox="1"/>
          <p:nvPr>
            <p:ph type="title"/>
          </p:nvPr>
        </p:nvSpPr>
        <p:spPr>
          <a:xfrm>
            <a:off x="454800" y="28846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OUTROS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ELEMENTOS IMPORTANTES</a:t>
            </a:r>
            <a:endParaRPr/>
          </a:p>
        </p:txBody>
      </p:sp>
      <p:sp>
        <p:nvSpPr>
          <p:cNvPr id="296" name="Google Shape;296;g35faa07046c_0_0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pt-BR"/>
              <a:t>04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5faa07046c_0_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PROCESSOS OU CASOS DE USO</a:t>
            </a:r>
            <a:endParaRPr/>
          </a:p>
        </p:txBody>
      </p:sp>
      <p:sp>
        <p:nvSpPr>
          <p:cNvPr id="302" name="Google Shape;302;g35faa07046c_0_6"/>
          <p:cNvSpPr txBox="1"/>
          <p:nvPr/>
        </p:nvSpPr>
        <p:spPr>
          <a:xfrm>
            <a:off x="1073099" y="1271525"/>
            <a:ext cx="69978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Representam as ações realizadas pelas entidades no sistema.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Exemplo:</a:t>
            </a: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No sistema de biblioteca, o processo de "empréstimo" pode incluir as etapas de verificar a disponibilidade do livro, registrar o empréstimo no sistema e atualizar o status do livro.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faa07046c_0_1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DIAGRAMAÇÃO</a:t>
            </a:r>
            <a:endParaRPr/>
          </a:p>
        </p:txBody>
      </p:sp>
      <p:sp>
        <p:nvSpPr>
          <p:cNvPr id="308" name="Google Shape;308;g35faa07046c_0_13"/>
          <p:cNvSpPr txBox="1"/>
          <p:nvPr/>
        </p:nvSpPr>
        <p:spPr>
          <a:xfrm>
            <a:off x="1073099" y="1012200"/>
            <a:ext cx="69978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Para representar os componentes e suas interações, utilizam-se diagramas, como: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</a:t>
            </a:r>
            <a:r>
              <a:rPr b="1"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Diagrama de Classes:</a:t>
            </a: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Mostra as entidades, seus atributos e os relacionamentos entre elas (usado em modelagem orientada a objetos).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</a:t>
            </a:r>
            <a:r>
              <a:rPr b="1"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Diagrama de Fluxo de Dados (DFD):</a:t>
            </a: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Representa o fluxo de informações entre os processos do sistema.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</a:t>
            </a:r>
            <a:r>
              <a:rPr b="1"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Diagrama Entidade-Relacionamento (ER):</a:t>
            </a: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Focado nas entidades, atributos e relacionamentos.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faa07046c_0_20"/>
          <p:cNvSpPr txBox="1"/>
          <p:nvPr>
            <p:ph type="title"/>
          </p:nvPr>
        </p:nvSpPr>
        <p:spPr>
          <a:xfrm>
            <a:off x="454800" y="28846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BENEFÍCIOS DA MODELAGEM DO SISTEMA</a:t>
            </a:r>
            <a:endParaRPr/>
          </a:p>
        </p:txBody>
      </p:sp>
      <p:sp>
        <p:nvSpPr>
          <p:cNvPr id="314" name="Google Shape;314;g35faa07046c_0_20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pt-BR"/>
              <a:t>05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faa07046c_0_2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BENEFÍCIOS</a:t>
            </a:r>
            <a:endParaRPr/>
          </a:p>
        </p:txBody>
      </p:sp>
      <p:sp>
        <p:nvSpPr>
          <p:cNvPr id="320" name="Google Shape;320;g35faa07046c_0_26"/>
          <p:cNvSpPr txBox="1"/>
          <p:nvPr/>
        </p:nvSpPr>
        <p:spPr>
          <a:xfrm>
            <a:off x="1073099" y="1012200"/>
            <a:ext cx="69978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Melhora a compreensão global do sistema por todas as partes envolvidas.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Facilita a detecção de falhas ou inconsistências antes da implementação.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Reduz custos e tempo ao evitar retrabalho no desenvolvimento.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Ajuda na criação de sistemas escaláveis e adaptáveis a mudanças futuras.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/>
          <p:nvPr>
            <p:ph type="title"/>
          </p:nvPr>
        </p:nvSpPr>
        <p:spPr>
          <a:xfrm>
            <a:off x="2951850" y="1158413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Paulo Victor</dc:creator>
</cp:coreProperties>
</file>